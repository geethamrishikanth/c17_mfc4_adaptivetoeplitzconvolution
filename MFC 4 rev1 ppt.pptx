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EE016A-7D0C-4209-9AE4-0ED983BC2175}" v="15" dt="2026-01-03T11:04:46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9" d="100"/>
          <a:sy n="79" d="100"/>
        </p:scale>
        <p:origin x="7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124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D80FA5CE-C5F2-4C7E-8781-672C8D81ACE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18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696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384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7468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054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491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8768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D80FA5CE-C5F2-4C7E-8781-672C8D81ACE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563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5163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181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FA5CE-C5F2-4C7E-8781-672C8D81ACE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82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1AB732-AB62-606B-2D13-BD679C0A08C7}"/>
              </a:ext>
            </a:extLst>
          </p:cNvPr>
          <p:cNvSpPr txBox="1"/>
          <p:nvPr/>
        </p:nvSpPr>
        <p:spPr>
          <a:xfrm>
            <a:off x="2225309" y="942656"/>
            <a:ext cx="8609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22MAT230  Mathematics for Computing 4</a:t>
            </a:r>
            <a:endParaRPr lang="en-IN" sz="3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D3B31-F1D8-E2D1-E047-375C580D74A3}"/>
              </a:ext>
            </a:extLst>
          </p:cNvPr>
          <p:cNvSpPr txBox="1"/>
          <p:nvPr/>
        </p:nvSpPr>
        <p:spPr>
          <a:xfrm>
            <a:off x="2225309" y="2386404"/>
            <a:ext cx="8286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Adaptive Toeplitz Convolution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80D39F-B2D4-A8BE-AEF3-BC4640C1BAEA}"/>
              </a:ext>
            </a:extLst>
          </p:cNvPr>
          <p:cNvSpPr txBox="1"/>
          <p:nvPr/>
        </p:nvSpPr>
        <p:spPr>
          <a:xfrm>
            <a:off x="5097982" y="4319793"/>
            <a:ext cx="709401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chemeClr val="tx2">
                    <a:lumMod val="90000"/>
                    <a:lumOff val="10000"/>
                  </a:schemeClr>
                </a:solidFill>
                <a:latin typeface="Arial Black" panose="020B0A04020102020204" pitchFamily="34" charset="0"/>
              </a:rPr>
              <a:t>Team 17</a:t>
            </a:r>
          </a:p>
          <a:p>
            <a:endParaRPr lang="en-IN" sz="2500" dirty="0">
              <a:solidFill>
                <a:schemeClr val="tx2">
                  <a:lumMod val="90000"/>
                  <a:lumOff val="10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sz="2500" dirty="0">
                <a:solidFill>
                  <a:schemeClr val="tx2">
                    <a:lumMod val="90000"/>
                    <a:lumOff val="10000"/>
                  </a:schemeClr>
                </a:solidFill>
                <a:latin typeface="Arial Black" panose="020B0A04020102020204" pitchFamily="34" charset="0"/>
              </a:rPr>
              <a:t>CH. Priya Madhav - CB.SC.U4AIE24211</a:t>
            </a:r>
          </a:p>
          <a:p>
            <a:r>
              <a:rPr lang="en-IN" sz="2500" dirty="0">
                <a:solidFill>
                  <a:schemeClr val="tx2">
                    <a:lumMod val="90000"/>
                    <a:lumOff val="10000"/>
                  </a:schemeClr>
                </a:solidFill>
                <a:latin typeface="Arial Black" panose="020B0A04020102020204" pitchFamily="34" charset="0"/>
              </a:rPr>
              <a:t>G.G. Rishi Kanth - CB.SC.U4AIE24218</a:t>
            </a:r>
            <a:endParaRPr lang="en-US" sz="2500" dirty="0">
              <a:solidFill>
                <a:schemeClr val="tx2">
                  <a:lumMod val="90000"/>
                  <a:lumOff val="1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47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AEE9B-E5F1-061E-BA5F-58377DAAB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6592C2-00D0-3C4F-288D-B8B0F324E85E}"/>
              </a:ext>
            </a:extLst>
          </p:cNvPr>
          <p:cNvSpPr txBox="1"/>
          <p:nvPr/>
        </p:nvSpPr>
        <p:spPr>
          <a:xfrm>
            <a:off x="412694" y="2209126"/>
            <a:ext cx="11199377" cy="324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 Convolution is a fundamental operation in signal 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 Traditionally implemented using sliding windows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 Can also be represented using </a:t>
            </a:r>
            <a:r>
              <a:rPr lang="en-US" sz="2800" b="1" dirty="0"/>
              <a:t>matrix operations</a:t>
            </a:r>
            <a:endParaRPr lang="en-US" sz="2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 Toeplitz matrices provide a structured way to represent convolution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55CEE-50F4-6EB0-2FA3-8E10ACE23C1E}"/>
              </a:ext>
            </a:extLst>
          </p:cNvPr>
          <p:cNvSpPr txBox="1"/>
          <p:nvPr/>
        </p:nvSpPr>
        <p:spPr>
          <a:xfrm>
            <a:off x="412694" y="825388"/>
            <a:ext cx="5683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37899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808E-0DE6-60BA-5D01-79712686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B558D0-74D6-574C-768F-7DC94ADB5650}"/>
              </a:ext>
            </a:extLst>
          </p:cNvPr>
          <p:cNvSpPr txBox="1"/>
          <p:nvPr/>
        </p:nvSpPr>
        <p:spPr>
          <a:xfrm>
            <a:off x="445063" y="595976"/>
            <a:ext cx="7493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C3337-3AD3-3E39-A614-82D1D12C4C64}"/>
              </a:ext>
            </a:extLst>
          </p:cNvPr>
          <p:cNvSpPr txBox="1"/>
          <p:nvPr/>
        </p:nvSpPr>
        <p:spPr>
          <a:xfrm>
            <a:off x="445063" y="1634591"/>
            <a:ext cx="11425954" cy="4265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understand convolution from a mathematical perspective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represent convolution using Toeplitz matrices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design an adaptive convolution kernel using statistics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perform convolution using matrix multiplication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reduce dimensionality using pooling</a:t>
            </a:r>
          </a:p>
        </p:txBody>
      </p:sp>
    </p:spTree>
    <p:extLst>
      <p:ext uri="{BB962C8B-B14F-4D97-AF65-F5344CB8AC3E}">
        <p14:creationId xmlns:p14="http://schemas.microsoft.com/office/powerpoint/2010/main" val="316332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CDDFB-E2A7-9227-9DD8-FD4655AAB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4F3016-568A-1DBD-40CA-D04DFC6C72BD}"/>
              </a:ext>
            </a:extLst>
          </p:cNvPr>
          <p:cNvSpPr txBox="1"/>
          <p:nvPr/>
        </p:nvSpPr>
        <p:spPr>
          <a:xfrm>
            <a:off x="331773" y="574535"/>
            <a:ext cx="6473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30E76-5073-B137-FCB9-EB8111257F15}"/>
              </a:ext>
            </a:extLst>
          </p:cNvPr>
          <p:cNvSpPr txBox="1"/>
          <p:nvPr/>
        </p:nvSpPr>
        <p:spPr>
          <a:xfrm>
            <a:off x="476081" y="1788339"/>
            <a:ext cx="11239837" cy="388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Take a discrete time-series signal 𝑥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 Compute mean (𝜇) </a:t>
            </a:r>
            <a:r>
              <a:rPr lang="el-GR" sz="2800" dirty="0"/>
              <a:t> </a:t>
            </a:r>
            <a:r>
              <a:rPr lang="en-IN" sz="2800" dirty="0"/>
              <a:t>and standard deviation (𝜎) </a:t>
            </a:r>
            <a:r>
              <a:rPr lang="el-GR" sz="2800" dirty="0"/>
              <a:t> </a:t>
            </a:r>
            <a:endParaRPr lang="en-IN" sz="2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Construct adaptive kernel ‘𝐾’  Build Toeplitz matrix ‘𝑇’  from signal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Perform matrix multiplication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Apply pooling for simplification</a:t>
            </a:r>
          </a:p>
        </p:txBody>
      </p:sp>
    </p:spTree>
    <p:extLst>
      <p:ext uri="{BB962C8B-B14F-4D97-AF65-F5344CB8AC3E}">
        <p14:creationId xmlns:p14="http://schemas.microsoft.com/office/powerpoint/2010/main" val="116267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AE0C2-1627-E930-8C2E-49070D3C8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976ED8-DA8D-B113-5E56-EBC759FD41AF}"/>
              </a:ext>
            </a:extLst>
          </p:cNvPr>
          <p:cNvSpPr txBox="1"/>
          <p:nvPr/>
        </p:nvSpPr>
        <p:spPr>
          <a:xfrm>
            <a:off x="307497" y="469338"/>
            <a:ext cx="79221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18E6F00-E118-FEBF-1707-CC057A1EC267}"/>
                  </a:ext>
                </a:extLst>
              </p:cNvPr>
              <p:cNvSpPr txBox="1"/>
              <p:nvPr/>
            </p:nvSpPr>
            <p:spPr>
              <a:xfrm>
                <a:off x="388418" y="1917812"/>
                <a:ext cx="11369309" cy="4116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600" b="1" dirty="0"/>
                  <a:t>Mathematical Representation : </a:t>
                </a:r>
              </a:p>
              <a:p>
                <a:endParaRPr lang="en-IN" sz="2600" b="1" dirty="0"/>
              </a:p>
              <a:p>
                <a:r>
                  <a:rPr lang="en-IN" sz="2600" b="1" dirty="0"/>
                  <a:t>		</a:t>
                </a:r>
                <a:r>
                  <a:rPr lang="en-IN" sz="2600" dirty="0"/>
                  <a:t>For a discrete signal </a:t>
                </a:r>
                <a14:m>
                  <m:oMath xmlns:m="http://schemas.openxmlformats.org/officeDocument/2006/math">
                    <m:r>
                      <a:rPr lang="en-IN" sz="26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IN" sz="2600" dirty="0"/>
                  <a:t> and kernel </a:t>
                </a:r>
                <a14:m>
                  <m:oMath xmlns:m="http://schemas.openxmlformats.org/officeDocument/2006/math">
                    <m:r>
                      <a:rPr lang="en-IN" sz="26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IN" sz="2600" dirty="0"/>
                  <a:t> </a:t>
                </a:r>
                <a:r>
                  <a:rPr lang="ar-AE" sz="2600" dirty="0"/>
                  <a:t>:</a:t>
                </a:r>
                <a:r>
                  <a:rPr lang="en-IN" sz="2600" dirty="0"/>
                  <a:t>  </a:t>
                </a:r>
                <a:r>
                  <a:rPr lang="pt-BR" sz="2600" dirty="0"/>
                  <a:t>y[n]=∑​x[k] h[n−k]</a:t>
                </a:r>
              </a:p>
              <a:p>
                <a:r>
                  <a:rPr lang="pt-BR" sz="2600" dirty="0"/>
                  <a:t>                                                                                             </a:t>
                </a:r>
                <a:r>
                  <a:rPr lang="en-IN" dirty="0"/>
                  <a:t>k</a:t>
                </a:r>
              </a:p>
              <a:p>
                <a:endParaRPr lang="pt-BR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300" dirty="0"/>
                  <a:t>Convolution combines two sequences to produce a new sequence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300" dirty="0"/>
                  <a:t>Each output value is a weighted sum of nearby input values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300" dirty="0"/>
                  <a:t>The kernel decides how neighboring samples influence the output</a:t>
                </a:r>
              </a:p>
              <a:p>
                <a:endParaRPr lang="ar-AE" dirty="0"/>
              </a:p>
              <a:p>
                <a:r>
                  <a:rPr lang="en-IN" dirty="0"/>
                  <a:t>                                                                                                 </a:t>
                </a:r>
                <a:endParaRPr lang="en-IN" sz="15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18E6F00-E118-FEBF-1707-CC057A1EC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18" y="1917812"/>
                <a:ext cx="11369309" cy="4116512"/>
              </a:xfrm>
              <a:prstGeom prst="rect">
                <a:avLst/>
              </a:prstGeom>
              <a:blipFill>
                <a:blip r:embed="rId2"/>
                <a:stretch>
                  <a:fillRect l="-965" t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173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1897E-BA40-BDCD-4948-8E1598E89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419EB8-BF82-E3D4-4387-00176B0E314F}"/>
              </a:ext>
            </a:extLst>
          </p:cNvPr>
          <p:cNvSpPr txBox="1"/>
          <p:nvPr/>
        </p:nvSpPr>
        <p:spPr>
          <a:xfrm>
            <a:off x="372234" y="461246"/>
            <a:ext cx="68944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ADAPTIVE KERNEL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B62D05-EA96-AAAC-9BD0-B329AADFFA3A}"/>
              </a:ext>
            </a:extLst>
          </p:cNvPr>
          <p:cNvSpPr txBox="1"/>
          <p:nvPr/>
        </p:nvSpPr>
        <p:spPr>
          <a:xfrm>
            <a:off x="474733" y="1375646"/>
            <a:ext cx="11288389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IN" sz="3200" b="1" dirty="0"/>
              <a:t>Kernel </a:t>
            </a:r>
            <a:r>
              <a:rPr lang="en-IN" sz="3200" dirty="0"/>
              <a:t>: K=[</a:t>
            </a:r>
            <a:r>
              <a:rPr lang="el-GR" sz="3200" dirty="0"/>
              <a:t>μ−2σ, μ, μ+2σ]</a:t>
            </a:r>
            <a:endParaRPr lang="en-IN" sz="3200" dirty="0"/>
          </a:p>
          <a:p>
            <a:endParaRPr lang="en-IN" sz="2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/>
              <a:t>Instead of choosing a fixed kernel, we generate a kernel from the signal itself</a:t>
            </a:r>
            <a:endParaRPr lang="en-IN" sz="23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/>
              <a:t>The kernel captures low, central, and high values of the signal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/>
              <a:t>Kernel values change when the signal changes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/>
              <a:t>The mean represents the average value of the signal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/>
              <a:t>Standard deviation measures how much the signal varies around the mean</a:t>
            </a:r>
          </a:p>
          <a:p>
            <a:endParaRPr lang="en-US" sz="2600" dirty="0"/>
          </a:p>
          <a:p>
            <a:endParaRPr lang="el-G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98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51823-BCF0-2980-F4D8-930DEAF89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227A02-61B1-0EFE-EFD8-B4271DA248A2}"/>
              </a:ext>
            </a:extLst>
          </p:cNvPr>
          <p:cNvSpPr txBox="1"/>
          <p:nvPr/>
        </p:nvSpPr>
        <p:spPr>
          <a:xfrm>
            <a:off x="226577" y="469338"/>
            <a:ext cx="6813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TOEPLITZ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104CD-0D17-B981-FF68-DCF734C962DE}"/>
              </a:ext>
            </a:extLst>
          </p:cNvPr>
          <p:cNvSpPr txBox="1"/>
          <p:nvPr/>
        </p:nvSpPr>
        <p:spPr>
          <a:xfrm>
            <a:off x="453155" y="3576470"/>
            <a:ext cx="11086088" cy="2148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/>
              <a:t>A Toeplitz matrix has constant values along each diagonal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/>
              <a:t>It represents time-shifted versions of a signal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/>
              <a:t>Each row corresponds to a shifted version of the signal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/>
              <a:t>This structure naturally models convolution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5F8483-3F52-26D4-1528-1C589D858D01}"/>
              </a:ext>
            </a:extLst>
          </p:cNvPr>
          <p:cNvSpPr txBox="1"/>
          <p:nvPr/>
        </p:nvSpPr>
        <p:spPr>
          <a:xfrm>
            <a:off x="1521303" y="2095846"/>
            <a:ext cx="32853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Toeplitz Matrix Form :</a:t>
            </a:r>
          </a:p>
          <a:p>
            <a:endParaRPr lang="en-IN" sz="2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7FD3077-4DAD-1089-C30C-BDB866D5C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29" y="1357520"/>
            <a:ext cx="3645160" cy="199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76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13AF3-B1A7-A916-8EAF-4491FD4F9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97E72D-FF25-044C-3955-5AE908F558FC}"/>
                  </a:ext>
                </a:extLst>
              </p:cNvPr>
              <p:cNvSpPr txBox="1"/>
              <p:nvPr/>
            </p:nvSpPr>
            <p:spPr>
              <a:xfrm>
                <a:off x="550259" y="1967494"/>
                <a:ext cx="11199376" cy="34501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800" dirty="0"/>
                  <a:t>Instead of sliding-window convolution: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8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i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IN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800" dirty="0"/>
                  <a:t>We compute: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8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800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IN" sz="2800" dirty="0"/>
              </a:p>
              <a:p>
                <a:pPr>
                  <a:buNone/>
                </a:pPr>
                <a:endParaRPr lang="en-IN" sz="2800" dirty="0"/>
              </a:p>
              <a:p>
                <a:pPr>
                  <a:buNone/>
                </a:pPr>
                <a:r>
                  <a:rPr lang="en-IN" sz="2000" b="1" dirty="0"/>
                  <a:t>Explanation :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/>
                  <a:t>Toeplitz matrix contains shifted signal values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/>
                  <a:t>Kernel acts as a weight vector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/>
                  <a:t>Matrix multiplication produces convolution output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97E72D-FF25-044C-3955-5AE908F55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59" y="1967494"/>
                <a:ext cx="11199376" cy="3450112"/>
              </a:xfrm>
              <a:prstGeom prst="rect">
                <a:avLst/>
              </a:prstGeom>
              <a:blipFill>
                <a:blip r:embed="rId2"/>
                <a:stretch>
                  <a:fillRect l="-980" b="-21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631AD72-9286-9678-271F-3D42A7C74761}"/>
              </a:ext>
            </a:extLst>
          </p:cNvPr>
          <p:cNvSpPr txBox="1"/>
          <p:nvPr/>
        </p:nvSpPr>
        <p:spPr>
          <a:xfrm>
            <a:off x="372234" y="430329"/>
            <a:ext cx="9661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/>
              <a:t>Convolution as 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1140349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C094F-2C3B-FD2E-4EA4-EE17E9747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3D495-6B54-183C-02D8-56108BEFDE7E}"/>
              </a:ext>
            </a:extLst>
          </p:cNvPr>
          <p:cNvSpPr txBox="1"/>
          <p:nvPr/>
        </p:nvSpPr>
        <p:spPr>
          <a:xfrm>
            <a:off x="331773" y="259652"/>
            <a:ext cx="61013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POOLING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7D4305-FA49-3497-E439-310A886B698A}"/>
                  </a:ext>
                </a:extLst>
              </p:cNvPr>
              <p:cNvSpPr txBox="1"/>
              <p:nvPr/>
            </p:nvSpPr>
            <p:spPr>
              <a:xfrm>
                <a:off x="6983426" y="2340240"/>
                <a:ext cx="6101394" cy="9050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solidFill>
                      <a:schemeClr val="bg2">
                        <a:lumMod val="10000"/>
                      </a:schemeClr>
                    </a:solidFill>
                  </a:rPr>
                  <a:t>Average Pooling 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7D4305-FA49-3497-E439-310A886B6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426" y="2340240"/>
                <a:ext cx="6101394" cy="905056"/>
              </a:xfrm>
              <a:prstGeom prst="rect">
                <a:avLst/>
              </a:prstGeom>
              <a:blipFill>
                <a:blip r:embed="rId2"/>
                <a:stretch>
                  <a:fillRect l="-900" t="-40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FE7B5A-E2F4-D4A2-657A-BD662E3E76FF}"/>
                  </a:ext>
                </a:extLst>
              </p:cNvPr>
              <p:cNvSpPr txBox="1"/>
              <p:nvPr/>
            </p:nvSpPr>
            <p:spPr>
              <a:xfrm>
                <a:off x="598811" y="3882825"/>
                <a:ext cx="6101394" cy="1971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300" b="1" dirty="0"/>
                  <a:t>Explanation :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300" dirty="0"/>
                  <a:t>Adjacent values are averaged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300" dirty="0"/>
                  <a:t>Signal length reduces from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300" dirty="0"/>
                  <a:t> to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30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3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300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300" dirty="0"/>
                  <a:t>Noise is smoothed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FE7B5A-E2F4-D4A2-657A-BD662E3E7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811" y="3882825"/>
                <a:ext cx="6101394" cy="1971694"/>
              </a:xfrm>
              <a:prstGeom prst="rect">
                <a:avLst/>
              </a:prstGeom>
              <a:blipFill>
                <a:blip r:embed="rId3"/>
                <a:stretch>
                  <a:fillRect l="-1399" t="-2477" b="-61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A8CA5C6-949E-486F-BACA-741A1BC23C69}"/>
              </a:ext>
            </a:extLst>
          </p:cNvPr>
          <p:cNvSpPr txBox="1"/>
          <p:nvPr/>
        </p:nvSpPr>
        <p:spPr>
          <a:xfrm>
            <a:off x="331773" y="1702491"/>
            <a:ext cx="6287511" cy="161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/>
              <a:t>Convolution output may be large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/>
              <a:t>Pooling reduces size while preserving structure</a:t>
            </a:r>
          </a:p>
        </p:txBody>
      </p:sp>
    </p:spTree>
    <p:extLst>
      <p:ext uri="{BB962C8B-B14F-4D97-AF65-F5344CB8AC3E}">
        <p14:creationId xmlns:p14="http://schemas.microsoft.com/office/powerpoint/2010/main" val="2533860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5553D-B9EA-142F-117F-350F0C34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12B048-E816-B7D6-1462-0DB076C58ADB}"/>
              </a:ext>
            </a:extLst>
          </p:cNvPr>
          <p:cNvSpPr txBox="1"/>
          <p:nvPr/>
        </p:nvSpPr>
        <p:spPr>
          <a:xfrm>
            <a:off x="453154" y="673090"/>
            <a:ext cx="61013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Future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7D72C3-070E-CABF-010E-9615EC901B41}"/>
              </a:ext>
            </a:extLst>
          </p:cNvPr>
          <p:cNvSpPr txBox="1"/>
          <p:nvPr/>
        </p:nvSpPr>
        <p:spPr>
          <a:xfrm>
            <a:off x="453154" y="2224889"/>
            <a:ext cx="114070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adaptive Toeplitz convolution approach can be extended using larger or variable kernel sizes to capture more complex signal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method can be applied to multidimensional or real-world time-series data to analyze its mathematical behavior.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matrix-based formulation can be further integrated with classification or detection frameworks beyond the current mathematical scope.</a:t>
            </a:r>
          </a:p>
        </p:txBody>
      </p:sp>
    </p:spTree>
    <p:extLst>
      <p:ext uri="{BB962C8B-B14F-4D97-AF65-F5344CB8AC3E}">
        <p14:creationId xmlns:p14="http://schemas.microsoft.com/office/powerpoint/2010/main" val="3632676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AFF51C-74D1-0127-D5E4-5F1F96487032}"/>
              </a:ext>
            </a:extLst>
          </p:cNvPr>
          <p:cNvSpPr txBox="1"/>
          <p:nvPr/>
        </p:nvSpPr>
        <p:spPr>
          <a:xfrm>
            <a:off x="3649508" y="2336393"/>
            <a:ext cx="911163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5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5189207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86</TotalTime>
  <Words>449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Cambria Math</vt:lpstr>
      <vt:lpstr>Century Gothic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kanth</dc:creator>
  <cp:lastModifiedBy>rishi kanth</cp:lastModifiedBy>
  <cp:revision>5</cp:revision>
  <dcterms:created xsi:type="dcterms:W3CDTF">2026-01-03T09:54:43Z</dcterms:created>
  <dcterms:modified xsi:type="dcterms:W3CDTF">2026-01-20T15:59:14Z</dcterms:modified>
</cp:coreProperties>
</file>