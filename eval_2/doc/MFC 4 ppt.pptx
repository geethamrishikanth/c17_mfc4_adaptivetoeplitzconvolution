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7" r:id="rId2"/>
    <p:sldId id="258" r:id="rId3"/>
    <p:sldId id="259" r:id="rId4"/>
    <p:sldId id="260" r:id="rId5"/>
    <p:sldId id="262" r:id="rId6"/>
    <p:sldId id="275" r:id="rId7"/>
    <p:sldId id="263" r:id="rId8"/>
    <p:sldId id="274" r:id="rId9"/>
    <p:sldId id="264" r:id="rId10"/>
    <p:sldId id="276" r:id="rId11"/>
    <p:sldId id="265" r:id="rId12"/>
    <p:sldId id="266" r:id="rId13"/>
    <p:sldId id="273" r:id="rId14"/>
    <p:sldId id="268" r:id="rId15"/>
    <p:sldId id="269" r:id="rId16"/>
    <p:sldId id="271" r:id="rId17"/>
    <p:sldId id="272" r:id="rId18"/>
    <p:sldId id="270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E016A-7D0C-4209-9AE4-0ED983BC2175}" v="15" dt="2026-01-03T11:04:46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12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18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96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4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746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05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49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76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56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516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181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FA5CE-C5F2-4C7E-8781-672C8D81ACE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4E46D82-88D8-4819-8A37-5B85B5C05F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82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AB732-AB62-606B-2D13-BD679C0A08C7}"/>
              </a:ext>
            </a:extLst>
          </p:cNvPr>
          <p:cNvSpPr txBox="1"/>
          <p:nvPr/>
        </p:nvSpPr>
        <p:spPr>
          <a:xfrm>
            <a:off x="2225309" y="942656"/>
            <a:ext cx="8609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22MAT230  Mathematics for Computing 4</a:t>
            </a:r>
            <a:endParaRPr lang="en-IN" sz="3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D3B31-F1D8-E2D1-E047-375C580D74A3}"/>
              </a:ext>
            </a:extLst>
          </p:cNvPr>
          <p:cNvSpPr txBox="1"/>
          <p:nvPr/>
        </p:nvSpPr>
        <p:spPr>
          <a:xfrm>
            <a:off x="2225309" y="2386404"/>
            <a:ext cx="82862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Adaptive Toeplitz Convolution    		for ECG Signal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0D39F-B2D4-A8BE-AEF3-BC4640C1BAEA}"/>
              </a:ext>
            </a:extLst>
          </p:cNvPr>
          <p:cNvSpPr txBox="1"/>
          <p:nvPr/>
        </p:nvSpPr>
        <p:spPr>
          <a:xfrm>
            <a:off x="5097982" y="4319793"/>
            <a:ext cx="70940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Team 17</a:t>
            </a:r>
          </a:p>
          <a:p>
            <a:endParaRPr lang="en-IN" sz="2500" dirty="0">
              <a:solidFill>
                <a:schemeClr val="tx2">
                  <a:lumMod val="90000"/>
                  <a:lumOff val="1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sz="2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CH. Priya Madhav - CB.SC.U4AIE24211</a:t>
            </a:r>
          </a:p>
          <a:p>
            <a:r>
              <a:rPr lang="en-IN" sz="25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G.G. Rishi Kanth - CB.SC.U4AIE24218</a:t>
            </a:r>
            <a:endParaRPr lang="en-US" sz="2500" dirty="0">
              <a:solidFill>
                <a:schemeClr val="tx2">
                  <a:lumMod val="90000"/>
                  <a:lumOff val="1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47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EE9B-E5F1-061E-BA5F-58377DAA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592C2-00D0-3C4F-288D-B8B0F324E85E}"/>
              </a:ext>
            </a:extLst>
          </p:cNvPr>
          <p:cNvSpPr txBox="1"/>
          <p:nvPr/>
        </p:nvSpPr>
        <p:spPr>
          <a:xfrm>
            <a:off x="329076" y="1650776"/>
            <a:ext cx="11711873" cy="409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Convolution is a fundamental operation in signal processing used to analyze time-series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Traditionally, convolution is implemented using sliding window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Convolution can also be represented using matrix operations through Toeplitz matrices.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Toeplitz matrices provide a structured way to represent shifted versions of a signal.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ECG signals can be analyzed using convolution to highlight abnormal heart patterns.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55CEE-50F4-6EB0-2FA3-8E10ACE23C1E}"/>
              </a:ext>
            </a:extLst>
          </p:cNvPr>
          <p:cNvSpPr txBox="1"/>
          <p:nvPr/>
        </p:nvSpPr>
        <p:spPr>
          <a:xfrm>
            <a:off x="329076" y="501706"/>
            <a:ext cx="5683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7899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808E-0DE6-60BA-5D01-79712686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B558D0-74D6-574C-768F-7DC94ADB5650}"/>
              </a:ext>
            </a:extLst>
          </p:cNvPr>
          <p:cNvSpPr txBox="1"/>
          <p:nvPr/>
        </p:nvSpPr>
        <p:spPr>
          <a:xfrm>
            <a:off x="339866" y="604067"/>
            <a:ext cx="7493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C3337-3AD3-3E39-A614-82D1D12C4C64}"/>
              </a:ext>
            </a:extLst>
          </p:cNvPr>
          <p:cNvSpPr txBox="1"/>
          <p:nvPr/>
        </p:nvSpPr>
        <p:spPr>
          <a:xfrm>
            <a:off x="339866" y="1715512"/>
            <a:ext cx="11425954" cy="390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 represent convolution using Toeplitz matrix formulation.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 design a fully adaptive convolution kernel whose size and values depend on signal statistics.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 apply adaptive Toeplitz convolution on ECG signals.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 classify ECG signals into normal and abnormal categories.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 evaluate performance using accuracy, confusion matrix, and ROC curve.</a:t>
            </a:r>
          </a:p>
        </p:txBody>
      </p:sp>
    </p:spTree>
    <p:extLst>
      <p:ext uri="{BB962C8B-B14F-4D97-AF65-F5344CB8AC3E}">
        <p14:creationId xmlns:p14="http://schemas.microsoft.com/office/powerpoint/2010/main" val="316332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DDFB-E2A7-9227-9DD8-FD4655AA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F3016-568A-1DBD-40CA-D04DFC6C72BD}"/>
              </a:ext>
            </a:extLst>
          </p:cNvPr>
          <p:cNvSpPr txBox="1"/>
          <p:nvPr/>
        </p:nvSpPr>
        <p:spPr>
          <a:xfrm>
            <a:off x="331773" y="659778"/>
            <a:ext cx="6473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30E76-5073-B137-FCB9-EB8111257F15}"/>
              </a:ext>
            </a:extLst>
          </p:cNvPr>
          <p:cNvSpPr txBox="1"/>
          <p:nvPr/>
        </p:nvSpPr>
        <p:spPr>
          <a:xfrm>
            <a:off x="331773" y="1691234"/>
            <a:ext cx="11239837" cy="4090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Load the “ECG5000” dataset and normalize the ECG signals for stable processing.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Compute signal statistics such as mean (</a:t>
            </a:r>
            <a:r>
              <a:rPr lang="el-GR" sz="2200" dirty="0"/>
              <a:t>μ) </a:t>
            </a:r>
            <a:r>
              <a:rPr lang="en-IN" sz="2200" dirty="0"/>
              <a:t>and standard deviation (</a:t>
            </a:r>
            <a:r>
              <a:rPr lang="el-GR" sz="2200" dirty="0"/>
              <a:t>σ).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Construct an adaptive kernel based on these signal statistics.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Convert ECG signals into Toeplitz matrices and perform convolution using matrix multiplication.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Extract statistical features and classify ECG signals using a KNN classifier, evaluating performance using accuracy, confusion matrix, and ROC curve.</a:t>
            </a:r>
          </a:p>
        </p:txBody>
      </p:sp>
    </p:spTree>
    <p:extLst>
      <p:ext uri="{BB962C8B-B14F-4D97-AF65-F5344CB8AC3E}">
        <p14:creationId xmlns:p14="http://schemas.microsoft.com/office/powerpoint/2010/main" val="116267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897E-BA40-BDCD-4948-8E1598E8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19EB8-BF82-E3D4-4387-00176B0E314F}"/>
              </a:ext>
            </a:extLst>
          </p:cNvPr>
          <p:cNvSpPr txBox="1"/>
          <p:nvPr/>
        </p:nvSpPr>
        <p:spPr>
          <a:xfrm>
            <a:off x="404602" y="458861"/>
            <a:ext cx="6894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ADAPTIVE KERNEL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62D05-EA96-AAAC-9BD0-B329AADFFA3A}"/>
              </a:ext>
            </a:extLst>
          </p:cNvPr>
          <p:cNvSpPr txBox="1"/>
          <p:nvPr/>
        </p:nvSpPr>
        <p:spPr>
          <a:xfrm>
            <a:off x="534074" y="1375648"/>
            <a:ext cx="11223653" cy="4669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2600" b="1" dirty="0"/>
              <a:t>Kernel </a:t>
            </a:r>
            <a:r>
              <a:rPr lang="en-IN" sz="2600" dirty="0"/>
              <a:t>: Kernel size:  k = 2 * [</a:t>
            </a:r>
            <a:r>
              <a:rPr lang="el-GR" sz="2600" dirty="0"/>
              <a:t>ασ + β</a:t>
            </a:r>
            <a:r>
              <a:rPr lang="en-IN" sz="2600" dirty="0"/>
              <a:t>log(n)] + 1</a:t>
            </a:r>
          </a:p>
          <a:p>
            <a:endParaRPr lang="en-IN" sz="2600" dirty="0"/>
          </a:p>
          <a:p>
            <a:r>
              <a:rPr lang="en-IN" sz="2600" dirty="0"/>
              <a:t>			  Kernel values:  K(i) = </a:t>
            </a:r>
            <a:r>
              <a:rPr lang="el-GR" sz="2600" dirty="0"/>
              <a:t>μ + (</a:t>
            </a:r>
            <a:r>
              <a:rPr lang="en-IN" sz="2600" dirty="0"/>
              <a:t>i − c)</a:t>
            </a:r>
            <a:r>
              <a:rPr lang="el-GR" sz="2600" dirty="0"/>
              <a:t>σ</a:t>
            </a:r>
            <a:endParaRPr lang="en-IN" sz="2600" dirty="0"/>
          </a:p>
          <a:p>
            <a:endParaRPr lang="en-IN" sz="2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kernel is generated from the signal itself.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Kernel size changes depending on signal variability.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Mean represents the average signal value.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Standard deviation measures signal variation.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makes the convolution adaptive to different signals.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55498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FA003-861C-CBA3-BA59-5CCB8857CA6D}"/>
              </a:ext>
            </a:extLst>
          </p:cNvPr>
          <p:cNvSpPr txBox="1"/>
          <p:nvPr/>
        </p:nvSpPr>
        <p:spPr>
          <a:xfrm>
            <a:off x="372234" y="631179"/>
            <a:ext cx="109647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TOEPLITZ MATRIX - INTRODUCTION</a:t>
            </a:r>
            <a:endParaRPr lang="en-IN" sz="3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FFCF6-A491-CA53-1A28-ECF243027FC2}"/>
              </a:ext>
            </a:extLst>
          </p:cNvPr>
          <p:cNvSpPr txBox="1"/>
          <p:nvPr/>
        </p:nvSpPr>
        <p:spPr>
          <a:xfrm>
            <a:off x="436969" y="1952246"/>
            <a:ext cx="10964708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Toeplitz matrix is a special type of matrix in which each diagonal from left to right has the same value.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is a structured matrix commonly used in linear algebra and signal processing.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Toeplitz matrices are useful for representing systems where values depend on constant shifts or delays.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They appear in many applications such as signal processing, time-series analysis, and numerical computations.</a:t>
            </a:r>
          </a:p>
        </p:txBody>
      </p:sp>
    </p:spTree>
    <p:extLst>
      <p:ext uri="{BB962C8B-B14F-4D97-AF65-F5344CB8AC3E}">
        <p14:creationId xmlns:p14="http://schemas.microsoft.com/office/powerpoint/2010/main" val="112292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1823-BCF0-2980-F4D8-930DEAF8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227A02-61B1-0EFE-EFD8-B4271DA248A2}"/>
              </a:ext>
            </a:extLst>
          </p:cNvPr>
          <p:cNvSpPr txBox="1"/>
          <p:nvPr/>
        </p:nvSpPr>
        <p:spPr>
          <a:xfrm>
            <a:off x="347958" y="535439"/>
            <a:ext cx="870703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/>
              <a:t>PROPERTIES OF TOEPLITZ MATRIX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104CD-0D17-B981-FF68-DCF734C962DE}"/>
              </a:ext>
            </a:extLst>
          </p:cNvPr>
          <p:cNvSpPr txBox="1"/>
          <p:nvPr/>
        </p:nvSpPr>
        <p:spPr>
          <a:xfrm>
            <a:off x="347958" y="3290301"/>
            <a:ext cx="11571610" cy="280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a Toeplitz matrix, all elements along each diagonal are constant.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Toeplitz matrix is completely determined by its first row and first column.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matrix structure represents shift-invariant relationships, which are common in signal processing.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Toeplitz matrices are widely used in numerical methods, time-series analysis, and linear systems because of their structured form.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F8483-3F52-26D4-1528-1C589D858D01}"/>
              </a:ext>
            </a:extLst>
          </p:cNvPr>
          <p:cNvSpPr txBox="1"/>
          <p:nvPr/>
        </p:nvSpPr>
        <p:spPr>
          <a:xfrm>
            <a:off x="1521303" y="2095846"/>
            <a:ext cx="3285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Toeplitz Matrix Form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FD3077-4DAD-1089-C30C-BDB866D5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154" y="1637406"/>
            <a:ext cx="2497742" cy="136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7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C9A403-2CE9-F736-44D9-9E8A99136623}"/>
              </a:ext>
            </a:extLst>
          </p:cNvPr>
          <p:cNvSpPr txBox="1"/>
          <p:nvPr/>
        </p:nvSpPr>
        <p:spPr>
          <a:xfrm>
            <a:off x="601507" y="639370"/>
            <a:ext cx="81082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CONVOLUTION - INTRODUCTION</a:t>
            </a:r>
            <a:endParaRPr lang="en-IN" sz="3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EBAF2-CC26-4FF8-475A-5B8328B5F006}"/>
              </a:ext>
            </a:extLst>
          </p:cNvPr>
          <p:cNvSpPr txBox="1"/>
          <p:nvPr/>
        </p:nvSpPr>
        <p:spPr>
          <a:xfrm>
            <a:off x="601507" y="1789469"/>
            <a:ext cx="11447533" cy="4090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Convolution is a mathematical operation used to combine two signals to produce a new signal.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is widely used in signal processing and machine learning to analyze patterns in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 this project, convolution is applied to ECG signals using an adaptive kernel to highlight important signal variations.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convolution operation helps enhance features in the signal, making abnormal patterns easier to detect.</a:t>
            </a:r>
          </a:p>
        </p:txBody>
      </p:sp>
    </p:spTree>
    <p:extLst>
      <p:ext uri="{BB962C8B-B14F-4D97-AF65-F5344CB8AC3E}">
        <p14:creationId xmlns:p14="http://schemas.microsoft.com/office/powerpoint/2010/main" val="124490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3AF3-B1A7-A916-8EAF-4491FD4F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97E72D-FF25-044C-3955-5AE908F558FC}"/>
                  </a:ext>
                </a:extLst>
              </p:cNvPr>
              <p:cNvSpPr txBox="1"/>
              <p:nvPr/>
            </p:nvSpPr>
            <p:spPr>
              <a:xfrm>
                <a:off x="550259" y="1967494"/>
                <a:ext cx="11199376" cy="3911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dirty="0"/>
                  <a:t>Instead of sliding-window convolution: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IN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800" dirty="0"/>
                  <a:t>We compute: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80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IN" sz="2800" dirty="0"/>
              </a:p>
              <a:p>
                <a:pPr>
                  <a:buNone/>
                </a:pPr>
                <a:endParaRPr lang="en-IN" sz="2800" dirty="0"/>
              </a:p>
              <a:p>
                <a:pPr>
                  <a:buNone/>
                </a:pPr>
                <a:r>
                  <a:rPr lang="en-IN" sz="2000" b="1" dirty="0"/>
                  <a:t>Explanation 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Toeplitz matrix contains shifted signal values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Kernel acts as a weight vector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Matrix multiplication produces convolution output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/>
                  <a:t>Larger adaptive kernels capture broader signal context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97E72D-FF25-044C-3955-5AE908F5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59" y="1967494"/>
                <a:ext cx="11199376" cy="3911776"/>
              </a:xfrm>
              <a:prstGeom prst="rect">
                <a:avLst/>
              </a:prstGeom>
              <a:blipFill>
                <a:blip r:embed="rId2"/>
                <a:stretch>
                  <a:fillRect l="-980" b="-18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31AD72-9286-9678-271F-3D42A7C74761}"/>
              </a:ext>
            </a:extLst>
          </p:cNvPr>
          <p:cNvSpPr txBox="1"/>
          <p:nvPr/>
        </p:nvSpPr>
        <p:spPr>
          <a:xfrm>
            <a:off x="372234" y="430329"/>
            <a:ext cx="9661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Convolution as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14034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9A7070-5869-B613-B336-7C853FB14099}"/>
              </a:ext>
            </a:extLst>
          </p:cNvPr>
          <p:cNvSpPr txBox="1"/>
          <p:nvPr/>
        </p:nvSpPr>
        <p:spPr>
          <a:xfrm>
            <a:off x="306149" y="2209127"/>
            <a:ext cx="11773911" cy="3265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Linear convolution between a signal and a kernel can be represented using a Toeplitz matrix formulation.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input signal is arranged into a Toeplitz matrix containing shifted versions of the signal.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kernel is represented as a vector, and convolution is performed using matrix multiplication.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approach provides a structured linear algebra representation of convolution, making it easier to analyze and implement computationally.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1F9B8-02EE-9D89-D716-1CEB70D2D1C8}"/>
              </a:ext>
            </a:extLst>
          </p:cNvPr>
          <p:cNvSpPr txBox="1"/>
          <p:nvPr/>
        </p:nvSpPr>
        <p:spPr>
          <a:xfrm>
            <a:off x="306149" y="873748"/>
            <a:ext cx="111184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LINEAR CONVOLUTION USING TOEPLITZ MATRIX</a:t>
            </a:r>
            <a:endParaRPr lang="en-IN" sz="3500" b="1" dirty="0"/>
          </a:p>
        </p:txBody>
      </p:sp>
    </p:spTree>
    <p:extLst>
      <p:ext uri="{BB962C8B-B14F-4D97-AF65-F5344CB8AC3E}">
        <p14:creationId xmlns:p14="http://schemas.microsoft.com/office/powerpoint/2010/main" val="29867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094F-2C3B-FD2E-4EA4-EE17E974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3D495-6B54-183C-02D8-56108BEFDE7E}"/>
              </a:ext>
            </a:extLst>
          </p:cNvPr>
          <p:cNvSpPr txBox="1"/>
          <p:nvPr/>
        </p:nvSpPr>
        <p:spPr>
          <a:xfrm>
            <a:off x="331773" y="663644"/>
            <a:ext cx="61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FEATURE EXTRACTION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E7B5A-E2F4-D4A2-657A-BD662E3E76FF}"/>
              </a:ext>
            </a:extLst>
          </p:cNvPr>
          <p:cNvSpPr txBox="1"/>
          <p:nvPr/>
        </p:nvSpPr>
        <p:spPr>
          <a:xfrm>
            <a:off x="331773" y="1869261"/>
            <a:ext cx="11903384" cy="3617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After convolution, statistical features are extracted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Mean – average value of the signal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Standard deviation – variation in signal amplitude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Range – difference between maximum and minimum values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Energy variation – highlights sudden signal changes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These features numerically represent the signal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253386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553D-B9EA-142F-117F-350F0C34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12B048-E816-B7D6-1462-0DB076C58ADB}"/>
              </a:ext>
            </a:extLst>
          </p:cNvPr>
          <p:cNvSpPr txBox="1"/>
          <p:nvPr/>
        </p:nvSpPr>
        <p:spPr>
          <a:xfrm>
            <a:off x="453154" y="839984"/>
            <a:ext cx="61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D72C3-070E-CABF-010E-9615EC901B41}"/>
              </a:ext>
            </a:extLst>
          </p:cNvPr>
          <p:cNvSpPr txBox="1"/>
          <p:nvPr/>
        </p:nvSpPr>
        <p:spPr>
          <a:xfrm>
            <a:off x="453154" y="2046864"/>
            <a:ext cx="11666018" cy="3617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K-Nearest Neighbors (KNN) classifier is used for classification.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Features extracted from ECG signals are used as inputs.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The classifier learns patterns from training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Signals are classified into normal or abnormal categories.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/>
              <a:t>Performance is evaluated using: Accuracy , Confusion matrix and ROC curve</a:t>
            </a:r>
          </a:p>
        </p:txBody>
      </p:sp>
    </p:spTree>
    <p:extLst>
      <p:ext uri="{BB962C8B-B14F-4D97-AF65-F5344CB8AC3E}">
        <p14:creationId xmlns:p14="http://schemas.microsoft.com/office/powerpoint/2010/main" val="363267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ED51D9-D1DC-DE19-1AB2-1D16019E5F77}"/>
              </a:ext>
            </a:extLst>
          </p:cNvPr>
          <p:cNvSpPr txBox="1"/>
          <p:nvPr/>
        </p:nvSpPr>
        <p:spPr>
          <a:xfrm>
            <a:off x="558351" y="604753"/>
            <a:ext cx="3277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HEATMAP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9876F-EE7E-E09E-1FA2-A1606CE8702C}"/>
              </a:ext>
            </a:extLst>
          </p:cNvPr>
          <p:cNvSpPr txBox="1"/>
          <p:nvPr/>
        </p:nvSpPr>
        <p:spPr>
          <a:xfrm>
            <a:off x="558351" y="1539552"/>
            <a:ext cx="11498782" cy="445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dataset contains 5000 ECG signals, so plotting all signals as lines becomes cluttered and hard to read.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heatmap represents each signal as a row and each sample as a column, making large datasets easier to visualize.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Colours represent signal amplitude, helping us quickly identify patterns and variations.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allows us to observe common patterns and abnormal regions across many ECG signals at once.</a:t>
            </a:r>
          </a:p>
        </p:txBody>
      </p:sp>
    </p:spTree>
    <p:extLst>
      <p:ext uri="{BB962C8B-B14F-4D97-AF65-F5344CB8AC3E}">
        <p14:creationId xmlns:p14="http://schemas.microsoft.com/office/powerpoint/2010/main" val="2545293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B4B424-BCD8-D23F-7954-86CE5CE3069D}"/>
              </a:ext>
            </a:extLst>
          </p:cNvPr>
          <p:cNvSpPr txBox="1"/>
          <p:nvPr/>
        </p:nvSpPr>
        <p:spPr>
          <a:xfrm>
            <a:off x="428878" y="300856"/>
            <a:ext cx="61013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RESULTS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3D3ECFCB-F573-3A4D-6480-1B87E42B0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99" y="1337461"/>
            <a:ext cx="5489181" cy="456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7AF23D-BCD6-6AD4-4AED-56B23438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78" y="1337461"/>
            <a:ext cx="5429757" cy="45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20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6C9958-E3A6-479F-8446-5BB0EB00EB90}"/>
              </a:ext>
            </a:extLst>
          </p:cNvPr>
          <p:cNvSpPr txBox="1"/>
          <p:nvPr/>
        </p:nvSpPr>
        <p:spPr>
          <a:xfrm>
            <a:off x="453154" y="2875002"/>
            <a:ext cx="39084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1 Signal Example:</a:t>
            </a:r>
            <a:endParaRPr lang="en-IN" sz="3000" b="1" dirty="0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FAE922D1-1135-4593-43D0-7D6BD336A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81" y="608350"/>
            <a:ext cx="6967242" cy="522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066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C33877C9-DEDE-915B-B16E-9DBEADB3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02" y="906308"/>
            <a:ext cx="5474807" cy="469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6B6D924-9E4A-94DA-D645-4060E1787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093" y="906309"/>
            <a:ext cx="5474807" cy="469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78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F20D2F2-287B-B1B7-7964-10CD8BD5A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45" y="865848"/>
            <a:ext cx="6050708" cy="483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845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7336E5-73D9-2023-1943-F522E19229C0}"/>
              </a:ext>
            </a:extLst>
          </p:cNvPr>
          <p:cNvSpPr txBox="1"/>
          <p:nvPr/>
        </p:nvSpPr>
        <p:spPr>
          <a:xfrm>
            <a:off x="380326" y="1935124"/>
            <a:ext cx="11798187" cy="3662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Adaptive Toeplitz convolution was implemented to analyse ECG signals using the “ECG5000”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The adaptive kernel adjusted its size and values based on signal statistics to enhance abnormal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Toeplitz matrix formulation enabled convolution through matrix multiplication.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Results showed strong performance with about 95% accuracy and an AUC of ~0.97, demonstrating effective detection of abnormal ECG signals.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08AD5-FAAE-81F1-1600-05DC6D750A8B}"/>
              </a:ext>
            </a:extLst>
          </p:cNvPr>
          <p:cNvSpPr txBox="1"/>
          <p:nvPr/>
        </p:nvSpPr>
        <p:spPr>
          <a:xfrm>
            <a:off x="380326" y="776836"/>
            <a:ext cx="4256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76977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FF51C-74D1-0127-D5E4-5F1F96487032}"/>
              </a:ext>
            </a:extLst>
          </p:cNvPr>
          <p:cNvSpPr txBox="1"/>
          <p:nvPr/>
        </p:nvSpPr>
        <p:spPr>
          <a:xfrm>
            <a:off x="3649508" y="2336393"/>
            <a:ext cx="911163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518920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1135</TotalTime>
  <Words>898</Words>
  <Application>Microsoft Office PowerPoint</Application>
  <PresentationFormat>Widescreen</PresentationFormat>
  <Paragraphs>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Cambria Math</vt:lpstr>
      <vt:lpstr>Century Gothic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kanth</dc:creator>
  <cp:lastModifiedBy>GUDIVADA GEETHAMRISHI KANTH - [CB.SC.U4AIE24218]</cp:lastModifiedBy>
  <cp:revision>14</cp:revision>
  <dcterms:created xsi:type="dcterms:W3CDTF">2026-01-03T09:54:43Z</dcterms:created>
  <dcterms:modified xsi:type="dcterms:W3CDTF">2026-03-13T09:43:21Z</dcterms:modified>
</cp:coreProperties>
</file>